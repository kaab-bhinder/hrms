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14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HRMS Platform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Pricing Proposal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423160"/>
            <a:ext cx="2743200" cy="3657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Client Review · June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24612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1A2E7A"/>
          </a:solidFill>
          <a:ln/>
          <a:effectLst>
            <a:outerShdw sx="100000" sy="100000" kx="0" ky="0" algn="bl" rotWithShape="0" blurRad="101600" dist="38100" dir="2700000">
              <a:srgbClr val="1E2761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Supported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324612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1A2E7A"/>
          </a:solidFill>
          <a:ln/>
          <a:effectLst>
            <a:outerShdw sx="100000" sy="100000" kx="0" ky="0" algn="bl" rotWithShape="0" blurRad="101600" dist="38100" dir="2700000">
              <a:srgbClr val="1E2761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324612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1A2E7A"/>
          </a:solidFill>
          <a:ln/>
          <a:effectLst>
            <a:outerShdw sx="100000" sy="100000" kx="0" ky="0" algn="bl" rotWithShape="0" blurRad="101600" dist="38100" dir="2700000">
              <a:srgbClr val="1E2761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Rollout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936"/>
          </a:solidFill>
          <a:ln w="12700">
            <a:solidFill>
              <a:srgbClr val="1119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your review — all prices in USD &amp; PKR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Getting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AI-powered HR platform — web + mobile, all 12 modules, deployed on AWS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3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4538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874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194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org chart, history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14600" y="13258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3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45389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06040" y="1874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+ Face ID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606040" y="2194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geofencing, biometric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663440" y="13258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3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45389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4880" y="1874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754880" y="2194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Quotas, approvals, calendar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812280" y="13258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3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45389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1874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+ Tax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903720" y="2194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PPh21, BPJS, payslips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65760" y="2926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3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3054096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7200" y="3474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e-Sign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457200" y="37947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 KTP signature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2514600" y="2926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3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4408" y="3054096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606040" y="3474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HR Assistant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2606040" y="37947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Chat-based HR Q&amp;A (Phase 2)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663440" y="2926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3000"/>
              </a:srgbClr>
            </a:outerShdw>
          </a:effectLst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3248" y="3054096"/>
            <a:ext cx="384048" cy="38404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54880" y="3474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4754880" y="37947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Attrition, trends, KPIs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6812280" y="2926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3000"/>
              </a:srgbClr>
            </a:outerShdw>
          </a:effectLst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2088" y="3054096"/>
            <a:ext cx="384048" cy="38404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903720" y="3474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6903720" y="37947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OCR, AI verification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 Cost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once at project kickoff — covers domain registration, initial cloud setup &amp; Claude Max for AI development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8412480" cy="34747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53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43400" y="135331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40680" y="135331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37960" y="1353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8412480" cy="484632"/>
          </a:xfrm>
          <a:prstGeom prst="rect">
            <a:avLst/>
          </a:prstGeom>
          <a:solidFill>
            <a:srgbClr val="1A2E7A"/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(.com) Registration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43400" y="17373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40680" y="17373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3,350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37960" y="1737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renewal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8412480" cy="484632"/>
          </a:xfrm>
          <a:prstGeom prst="rect">
            <a:avLst/>
          </a:prstGeom>
          <a:solidFill>
            <a:srgbClr val="162575"/>
          </a:solidFill>
          <a:ln w="12700">
            <a:solidFill>
              <a:srgbClr val="1625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40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Initial Setup &amp; Configuration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43400" y="224028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40680" y="224028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22,300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2240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VPC, IAM, security groups, one-time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651760"/>
            <a:ext cx="8412480" cy="484632"/>
          </a:xfrm>
          <a:prstGeom prst="rect">
            <a:avLst/>
          </a:prstGeom>
          <a:solidFill>
            <a:srgbClr val="1A2E7A"/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43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Certificate (AWS ACM)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43400" y="27432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40680" y="27432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2743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with CloudFront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8412480" cy="484632"/>
          </a:xfrm>
          <a:prstGeom prst="rect">
            <a:avLst/>
          </a:prstGeom>
          <a:solidFill>
            <a:srgbClr val="162575"/>
          </a:solidFill>
          <a:ln w="12700">
            <a:solidFill>
              <a:srgbClr val="1625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46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Max — AI Development &amp; Setup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43400" y="324612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324612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27,900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37960" y="3246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AI chatbot setup, testing, prompt engineering. Dropped after go-live.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657600"/>
            <a:ext cx="8412480" cy="484632"/>
          </a:xfrm>
          <a:prstGeom prst="rect">
            <a:avLst/>
          </a:prstGeom>
          <a:solidFill>
            <a:srgbClr val="1A2E7A"/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749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 Migration &amp; Config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43400" y="374904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40680" y="374904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41,850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37960" y="3749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employee import, payroll config, shift setup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233672"/>
            <a:ext cx="8412480" cy="475488"/>
          </a:xfrm>
          <a:prstGeom prst="roundRect">
            <a:avLst>
              <a:gd name="adj" fmla="val 11538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3434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ONE-TIME COST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343400" y="434340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~$342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40680" y="43434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~PKR 95,450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Running Cost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monthly charges — billed by AWS (1 of 2)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47472" y="1207008"/>
            <a:ext cx="8449056" cy="310896"/>
          </a:xfrm>
          <a:prstGeom prst="roundRect">
            <a:avLst>
              <a:gd name="adj" fmla="val 2058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261872"/>
            <a:ext cx="81747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Infrastructure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517904"/>
            <a:ext cx="844905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572768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(t3.large) — App server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08192" y="157276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22592" y="157276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23,700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1828800"/>
            <a:ext cx="8449056" cy="310896"/>
          </a:xfrm>
          <a:prstGeom prst="rect">
            <a:avLst/>
          </a:prstGeom>
          <a:solidFill>
            <a:srgbClr val="EEF2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883664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 — Database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08192" y="18836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22592" y="188366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25,100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139696"/>
            <a:ext cx="844905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194560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Document &amp; file storage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08192" y="219456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22592" y="219456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5,020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2450592"/>
            <a:ext cx="8449056" cy="310896"/>
          </a:xfrm>
          <a:prstGeom prst="rect">
            <a:avLst/>
          </a:prstGeom>
          <a:solidFill>
            <a:srgbClr val="EEF2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505456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CDN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08192" y="250545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22592" y="250545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3,070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2761488"/>
            <a:ext cx="844905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2816352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+ Backup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08192" y="281635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22592" y="281635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8,930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3072384"/>
            <a:ext cx="8449056" cy="310896"/>
          </a:xfrm>
          <a:prstGeom prst="rect">
            <a:avLst/>
          </a:prstGeom>
          <a:solidFill>
            <a:srgbClr val="EEF2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127248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Rekognition — Face ID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08192" y="312724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22592" y="312724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10,050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3383280"/>
            <a:ext cx="844905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438144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Textract — OCR / Doc AI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08192" y="343814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22592" y="343814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6,140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" y="3694176"/>
            <a:ext cx="8449056" cy="310896"/>
          </a:xfrm>
          <a:prstGeom prst="rect">
            <a:avLst/>
          </a:prstGeom>
          <a:solidFill>
            <a:srgbClr val="EEF2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" y="3749040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— Web App Firewall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08192" y="374904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22592" y="37490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6,140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7472" y="4005072"/>
            <a:ext cx="8449056" cy="292608"/>
          </a:xfrm>
          <a:prstGeom prst="rect">
            <a:avLst/>
          </a:prstGeom>
          <a:solidFill>
            <a:srgbClr val="D1D9F0"/>
          </a:solidFill>
          <a:ln w="12700">
            <a:solidFill>
              <a:srgbClr val="B0BD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" y="4059936"/>
            <a:ext cx="8174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Subtotal: $316   /   PKR 88,150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Annual — Save Big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love the platform after Month 1, switching to annual AWS Reserved Instances &amp; committing to yearly plans saves significantly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3977640" cy="3246120"/>
          </a:xfrm>
          <a:prstGeom prst="roundRect">
            <a:avLst>
              <a:gd name="adj" fmla="val 3944"/>
            </a:avLst>
          </a:prstGeom>
          <a:solidFill>
            <a:srgbClr val="1A2259"/>
          </a:solidFill>
          <a:ln w="6350">
            <a:solidFill>
              <a:srgbClr val="2A357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298448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3258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(Pay-As-You-Go)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212848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equivalent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432304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$439/mo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81635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122,470/mo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127248"/>
            <a:ext cx="3063240" cy="18288"/>
          </a:xfrm>
          <a:prstGeom prst="rect">
            <a:avLst/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18688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total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41985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$5,268/yr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694176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1,469,640/yr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298448"/>
            <a:ext cx="3977640" cy="3246120"/>
          </a:xfrm>
          <a:prstGeom prst="roundRect">
            <a:avLst>
              <a:gd name="adj" fmla="val 3944"/>
            </a:avLst>
          </a:prstGeom>
          <a:solidFill>
            <a:srgbClr val="1E2761"/>
          </a:solidFill>
          <a:ln w="25400">
            <a:solidFill>
              <a:srgbClr val="F4B942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52160" y="1298448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3258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173736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Commitment Plan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212848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equivalent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2432304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$349/mo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983480" y="281635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97,370/mo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3127248"/>
            <a:ext cx="3063240" cy="18288"/>
          </a:xfrm>
          <a:prstGeom prst="rect">
            <a:avLst/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218688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total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341985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$4,188/yr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83480" y="3694176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1,168,440/yr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74920" y="4005072"/>
            <a:ext cx="3520440" cy="347472"/>
          </a:xfrm>
          <a:prstGeom prst="roundRect">
            <a:avLst>
              <a:gd name="adj" fmla="val 18421"/>
            </a:avLst>
          </a:prstGeom>
          <a:solidFill>
            <a:srgbClr val="0D4A2F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05993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~$1,080/yr  (PKR ~301,200)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annual savings work: AWS EC2 + RDS Reserved Instances (1yr) = ~30% off those two bills alone. Communication providers also offer better rates on 12-month agreements.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1,000 Employees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grow, costs grow — but not dramatically. Most of the platform stays the same.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47472" y="1188720"/>
            <a:ext cx="8449056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7101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127101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600 Employees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60520" y="127101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1,000 Employees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89320" y="12710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0" y="127101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536192"/>
            <a:ext cx="8449056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00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App Server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86000" y="1600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 / PKR 23,700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60520" y="1600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 / PKR 36,270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89320" y="1600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t3.xlarge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229600" y="164592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1874520"/>
            <a:ext cx="8449056" cy="33832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9385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86000" y="193852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 / PKR 25,100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60520" y="193852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$115 / PKR 32,090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89320" y="19385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storage, same instance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29600" y="198424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2212848"/>
            <a:ext cx="8449056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2768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Storage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86000" y="227685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 / PKR 5,020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60520" y="227685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 / PKR 7,810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89320" y="227685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documents &amp; payslips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229600" y="2322576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2551176"/>
            <a:ext cx="8449056" cy="33832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6151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CDN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286000" y="261518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 / PKR 3,070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60520" y="261518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 / PKR 4,470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89320" y="261518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traffic, scales linearly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229600" y="2660904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2889504"/>
            <a:ext cx="8449056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953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+ Backup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286000" y="29535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 / PKR 8,930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60520" y="29535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 / PKR 10,600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89320" y="295351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logs &amp; backups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229600" y="299923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" y="3227832"/>
            <a:ext cx="8449056" cy="33832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291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Rekognition (Face ID)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286000" y="3291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 / PKR 10,050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60520" y="3291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 / PKR 16,190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89320" y="3291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— more employees = more checks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229600" y="333756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7472" y="3566160"/>
            <a:ext cx="8449056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630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Textract (OCR)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286000" y="363016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 / PKR 6,140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60520" y="363016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 / PKR 9,210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89320" y="36301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document uploads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229600" y="367588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7472" y="3904488"/>
            <a:ext cx="8449056" cy="33832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9684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(AI Assistant)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286000" y="396849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 / PKR 18,140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60520" y="396849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 / PKR 26,510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989320" y="396849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chat usage across workforce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229600" y="401421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47472" y="4242816"/>
            <a:ext cx="8449056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" y="43068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286000" y="430682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 / PKR 6,140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60520" y="430682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 / PKR 6,140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989320" y="430682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 — fixed cost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8229600" y="435254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47472" y="4581144"/>
            <a:ext cx="8449056" cy="33832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46451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(Email+WA+SMS)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286000" y="464515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 / PKR 16,180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60520" y="464515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 / PKR 22,320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989320" y="46451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notifications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8229600" y="469087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47472" y="5010912"/>
            <a:ext cx="4160520" cy="457200"/>
          </a:xfrm>
          <a:prstGeom prst="roundRect">
            <a:avLst>
              <a:gd name="adj" fmla="val 14000"/>
            </a:avLst>
          </a:prstGeom>
          <a:solidFill>
            <a:srgbClr val="D1D9F0"/>
          </a:solidFill>
          <a:ln w="12700">
            <a:solidFill>
              <a:srgbClr val="B0BD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5120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employees total: ~$439/mo  (PKR 122,470)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617720" y="5010912"/>
            <a:ext cx="4178808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3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709160" y="51206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employees total: ~$615/mo  (PKR 171,610)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347472" y="5541264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400 employees raises cost by only ~$176/month. Infrastructure is mostly fixed — you grow without proportional cost growth.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Summary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" y="1234440"/>
            <a:ext cx="1975104" cy="2286000"/>
          </a:xfrm>
          <a:prstGeom prst="roundRect">
            <a:avLst>
              <a:gd name="adj" fmla="val 5556"/>
            </a:avLst>
          </a:prstGeom>
          <a:solidFill>
            <a:srgbClr val="1A2E7A"/>
          </a:solidFill>
          <a:ln/>
          <a:effectLst>
            <a:outerShdw sx="100000" sy="100000" kx="0" ky="0" algn="bl" rotWithShape="0" blurRad="101600" dist="38100" dir="2700000">
              <a:srgbClr val="1E2761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38912" y="1353312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737360"/>
            <a:ext cx="1426464" cy="18288"/>
          </a:xfrm>
          <a:prstGeom prst="rect">
            <a:avLst/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810512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~$342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8912" y="2249424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~PKR 95,450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1792" y="2560320"/>
            <a:ext cx="1426464" cy="18288"/>
          </a:xfrm>
          <a:prstGeom prst="rect">
            <a:avLst/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624328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once at kickoff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05456" y="1234440"/>
            <a:ext cx="1975104" cy="2286000"/>
          </a:xfrm>
          <a:prstGeom prst="roundRect">
            <a:avLst>
              <a:gd name="adj" fmla="val 5556"/>
            </a:avLst>
          </a:prstGeom>
          <a:solidFill>
            <a:srgbClr val="1A2E7A"/>
          </a:solidFill>
          <a:ln/>
          <a:effectLst>
            <a:outerShdw sx="100000" sy="100000" kx="0" ky="0" algn="bl" rotWithShape="0" blurRad="101600" dist="38100" dir="2700000">
              <a:srgbClr val="1E2761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96896" y="1353312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(600 emp)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79776" y="1737360"/>
            <a:ext cx="1426464" cy="18288"/>
          </a:xfrm>
          <a:prstGeom prst="rect">
            <a:avLst/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6896" y="1810512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~$439/mo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596896" y="2249424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~PKR 122,470/mo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79776" y="2560320"/>
            <a:ext cx="1426464" cy="18288"/>
          </a:xfrm>
          <a:prstGeom prst="rect">
            <a:avLst/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96896" y="2624328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1975104" cy="2286000"/>
          </a:xfrm>
          <a:prstGeom prst="roundRect">
            <a:avLst>
              <a:gd name="adj" fmla="val 5556"/>
            </a:avLst>
          </a:prstGeom>
          <a:solidFill>
            <a:srgbClr val="0D3D2A"/>
          </a:solidFill>
          <a:ln/>
          <a:effectLst>
            <a:outerShdw sx="100000" sy="100000" kx="0" ky="0" algn="bl" rotWithShape="0" blurRad="101600" dist="38100" dir="2700000">
              <a:srgbClr val="1E2761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1353312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Plan (600 emp)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1737360"/>
            <a:ext cx="1426464" cy="18288"/>
          </a:xfrm>
          <a:prstGeom prst="rect">
            <a:avLst/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810512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~$4,188/yr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754880" y="2249424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~PKR 1,168,440/yr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2560320"/>
            <a:ext cx="1426464" cy="18288"/>
          </a:xfrm>
          <a:prstGeom prst="rect">
            <a:avLst/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624328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~$1,080 vs monthly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21424" y="1234440"/>
            <a:ext cx="1975104" cy="2286000"/>
          </a:xfrm>
          <a:prstGeom prst="roundRect">
            <a:avLst>
              <a:gd name="adj" fmla="val 5556"/>
            </a:avLst>
          </a:prstGeom>
          <a:solidFill>
            <a:srgbClr val="2A1A5E"/>
          </a:solidFill>
          <a:ln/>
          <a:effectLst>
            <a:outerShdw sx="100000" sy="100000" kx="0" ky="0" algn="bl" rotWithShape="0" blurRad="101600" dist="38100" dir="2700000">
              <a:srgbClr val="1E2761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12864" y="1353312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1,000 emp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95744" y="1737360"/>
            <a:ext cx="1426464" cy="18288"/>
          </a:xfrm>
          <a:prstGeom prst="rect">
            <a:avLst/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12864" y="1810512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~$615/mo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912864" y="2249424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~PKR 171,610/mo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95744" y="2560320"/>
            <a:ext cx="1426464" cy="18288"/>
          </a:xfrm>
          <a:prstGeom prst="rect">
            <a:avLst/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12864" y="2624328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+$176/mo for 400 more people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7307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Notes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409651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prices are estimates — actual costs vary by API usage, storage volume, and employee activity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2702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Max ($100 one-time) is only for AI development &amp; chatbot setup — NOT a recurring production cost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4439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replaces OpenAI — no need to pay both. One AI provider keeps it clean and cheaper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WAF recommended for production — protects 600 employee records from attacks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9145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Reserved Instances (EC2+RDS) lock in 30% savings — worth committing after Month 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96519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USD/PKR rate used: 1 USD = PKR 279. Rate fluctuations will affect PKR estimates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Running Cost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monthly charges — billed by Anthropic and communication providers (2 of 2)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47472" y="1207008"/>
            <a:ext cx="8449056" cy="310896"/>
          </a:xfrm>
          <a:prstGeom prst="roundRect">
            <a:avLst>
              <a:gd name="adj" fmla="val 20588"/>
            </a:avLst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" y="1261872"/>
            <a:ext cx="81747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47472" y="1517904"/>
            <a:ext cx="844905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" y="1572768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(Anthropic) — AI HR Assistant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08192" y="157276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22592" y="157276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18,140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47472" y="1828800"/>
            <a:ext cx="8449056" cy="292608"/>
          </a:xfrm>
          <a:prstGeom prst="rect">
            <a:avLst/>
          </a:prstGeom>
          <a:solidFill>
            <a:srgbClr val="D1D9F0"/>
          </a:solidFill>
          <a:ln w="12700">
            <a:solidFill>
              <a:srgbClr val="B0BD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" y="1883664"/>
            <a:ext cx="8174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Subtotal: $65   /   PKR 18,140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7472" y="2212848"/>
            <a:ext cx="8449056" cy="310896"/>
          </a:xfrm>
          <a:prstGeom prst="roundRect">
            <a:avLst>
              <a:gd name="adj" fmla="val 20588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" y="2267712"/>
            <a:ext cx="81747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47472" y="2523744"/>
            <a:ext cx="844905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" y="2578608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SES — Email notifications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08192" y="25786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022592" y="257860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3,070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47472" y="2834640"/>
            <a:ext cx="8449056" cy="310896"/>
          </a:xfrm>
          <a:prstGeom prst="rect">
            <a:avLst/>
          </a:prstGeom>
          <a:solidFill>
            <a:srgbClr val="EEF2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" y="2889504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108192" y="288950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022592" y="288950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8,090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47472" y="3145536"/>
            <a:ext cx="844905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" y="3200400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Gateway — OTP alerts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108192" y="320040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022592" y="320040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5,020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47472" y="3456432"/>
            <a:ext cx="8449056" cy="292608"/>
          </a:xfrm>
          <a:prstGeom prst="rect">
            <a:avLst/>
          </a:prstGeom>
          <a:solidFill>
            <a:srgbClr val="D1D9F0"/>
          </a:solidFill>
          <a:ln w="12700">
            <a:solidFill>
              <a:srgbClr val="B0BD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4632" y="3511296"/>
            <a:ext cx="8174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Subtotal: $58   /   PKR 16,180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47472" y="3886200"/>
            <a:ext cx="8449056" cy="530352"/>
          </a:xfrm>
          <a:prstGeom prst="roundRect">
            <a:avLst>
              <a:gd name="adj" fmla="val 1724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3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02920" y="401421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COST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4023360" y="401421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~$439 / month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6217920" y="401421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~PKR 122,470 / month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HRMS — Pricing Proposal</dc:title>
  <dc:subject>PptxGenJS Presentation</dc:subject>
  <dc:creator>HRMS Platform</dc:creator>
  <cp:lastModifiedBy>HRMS Platform</cp:lastModifiedBy>
  <cp:revision>1</cp:revision>
  <dcterms:created xsi:type="dcterms:W3CDTF">2026-07-02T07:01:59Z</dcterms:created>
  <dcterms:modified xsi:type="dcterms:W3CDTF">2026-07-02T07:01:59Z</dcterms:modified>
</cp:coreProperties>
</file>